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Адаптация сети социальной инфраструктуры к сокращению населения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D6E0F0"/>
                </a:solidFill>
                <a:latin typeface="Calibri"/>
              </a:rPr>
              <a:t>ГИС-анализ пешеходной доступности в Каменске-Уральском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343400"/>
            <a:ext cx="2011680" cy="457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D6E0F0"/>
                </a:solidFill>
                <a:latin typeface="Calibri"/>
              </a:rPr>
              <a:t>Максим Сачков · 11 класс · МАОУ СОШ №123, Екатеринбург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A9BCD6"/>
                </a:solidFill>
                <a:latin typeface="Calibri"/>
              </a:rPr>
              <a:t>github.com/Geraks7/kamensk-accessibility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Город теряет население, сеть осталась прежней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Население: 207 780 (1989) → 160 312 (2025), −23 %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Сеть школ, детсадов и поликлиник рассчитана на большее число жителей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Решения о сокращении принимаются по количеству объектов, а не по тому, кого они оставят без услуги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Нормативные радиусы считаются по прямой и не учитывают улично-дорожную сеть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920240"/>
            <a:ext cx="4754880" cy="219456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48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Исследовательский вопрос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51460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Как изменение сети объектов влияет на доступность услуг и какие сценарии адаптации сохраняют её без существенных потерь?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Данные и 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OpenStreetMap + официальные перечни + нормативы СП 42.13330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6 029 жилых зданий, 1 752 узла спроса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36 школ, 67 детсадов, 31 медучреждение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Пешеходный граф: 8 167 узлов, 23 452 ребра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Кратчайшие пути по сети → изохроны 10/15/20 мин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Показатели: покрытие, дублирование, разрыв с нормативом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Сценарии: жадное удаление с бюджетом потери покрытия</a:t>
            </a:r>
          </a:p>
        </p:txBody>
      </p:sp>
      <p:pic>
        <p:nvPicPr>
          <p:cNvPr id="6" name="Picture 5" descr="01_walk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737360"/>
            <a:ext cx="4134364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Покрытие 15 минут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Доля жилой застройки в зоне пешеходной доступности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>
                <a:solidFill>
                  <a:srgbClr val="666666"/>
                </a:solidFill>
                <a:latin typeface="Calibri"/>
              </a:rPr>
              <a:t>Тип объекта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15 мин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6916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666666"/>
                </a:solidFill>
                <a:latin typeface="Calibri"/>
              </a:rPr>
              <a:t>20 мин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Школы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4884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75 %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24028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90 %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Детские сады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01752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66 %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1089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80 %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222222"/>
                </a:solidFill>
                <a:latin typeface="Calibri"/>
              </a:rPr>
              <a:t>Поликлиники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886200"/>
            <a:ext cx="1188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>
                <a:solidFill>
                  <a:srgbClr val="1F3864"/>
                </a:solidFill>
                <a:latin typeface="Calibri"/>
              </a:rPr>
              <a:t>46 %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977639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222222"/>
                </a:solidFill>
                <a:latin typeface="Calibri"/>
              </a:rPr>
              <a:t>61 %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Одновременно 25–54 % жилья не имеет ни одного объекта в пределах 15 минут — избыточность и дефицит сосуществуют в разных частях города.</a:t>
            </a:r>
          </a:p>
        </p:txBody>
      </p:sp>
      <p:pic>
        <p:nvPicPr>
          <p:cNvPr id="18" name="Picture 17" descr="02_coverage_scho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3955212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Норматив против сети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Одно и то же расстояние: по прямой и по улицам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Тип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Радиус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По прямой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По сети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737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666666"/>
                </a:solidFill>
                <a:latin typeface="Calibri"/>
              </a:rPr>
              <a:t>Разрыв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Школы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500 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72 %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28 %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1945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−43 п.п.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Детсады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300 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59 %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13 %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28803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−45 п.п.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222222"/>
                </a:solidFill>
                <a:latin typeface="Calibri"/>
              </a:rPr>
              <a:t>Поликлиники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1 000 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76 %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22222"/>
                </a:solidFill>
                <a:latin typeface="Calibri"/>
              </a:rPr>
              <a:t>41 %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56616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C0392B"/>
                </a:solidFill>
                <a:latin typeface="Calibri"/>
              </a:rPr>
              <a:t>−35 п.п.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104241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Нормативные радиусы, измеренные по прямой, завышают доступность в 1,5–4 раза. Уличная сеть и барьеры «съедают» от 35 до 48 процентных пунктов норматива — это главный методический результат работы.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Сценарии сокращения сети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Жадный алгоритм, бюджет потери покрытия 0–3 %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Умеренный (0 %): −12 школ, −33 детсада, −10 поликлиник при неизменном покрытии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Средний (1 %): −17 школ, −15 поликлиник, потеря 0,4–0,6 п.п.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Даже при нулевой потере покрытия среднее время до объекта растёт на 0,3–0,6 мин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Критичные объекты: Школа №32 (10,9 % жилья), Школа №39 (7,7 %), Детсад №34 (7,7 %)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222222"/>
                </a:solidFill>
                <a:latin typeface="Calibri"/>
              </a:rPr>
              <a:t>•  Ограничение: не более половины сети — модель не учитывает вместимость</a:t>
            </a:r>
          </a:p>
        </p:txBody>
      </p:sp>
      <p:pic>
        <p:nvPicPr>
          <p:cNvPr id="6" name="Picture 5" descr="04_critical_ob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396464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Ограничения и что дальше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666666"/>
                </a:solidFill>
                <a:latin typeface="Calibri"/>
              </a:rPr>
              <a:t>Честные ограничения — часть результата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5669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Вместимость объектов не учтена: школа на 200 и на 1200 мест равны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Нет возрастной структуры: спрос считается однородным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Пешеходная сеть OSM неполная — часть тротуаров не закартирована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Промышленные зоны влияют только через геометрию сети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7373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Полная сверка медучреждений по всем юрлицам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Веса спроса по возрастной структуре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Сценарии с учётом вместимости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222222"/>
                </a:solidFill>
                <a:latin typeface="Calibri"/>
              </a:rPr>
              <a:t>•  Веб-карта для администрации и жителей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1F3864"/>
                </a:solidFill>
                <a:latin typeface="Calibri"/>
              </a:rPr>
              <a:t>Что сделано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760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Воспроизводимый пайплайн: данные → доступность → сценарии → карты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Методика с оценкой чувствительности и ограничениями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Реестр объектов «избыточен / критичен»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Три сценария адаптации сети с числами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>
                <a:solidFill>
                  <a:srgbClr val="222222"/>
                </a:solidFill>
                <a:latin typeface="Calibri"/>
              </a:rPr>
              <a:t>•  4 карты и интерактивная веб-карта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6459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1F3864"/>
                </a:solidFill>
                <a:latin typeface="Calibri"/>
              </a:rPr>
              <a:t>Ссылки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0312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github.com/Geraks7/kamensk-accessibility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geraks7.github.io/kamensk-accessibility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457200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666666"/>
                </a:solidFill>
                <a:latin typeface="Calibri"/>
              </a:rPr>
              <a:t>Данные: © OpenStreetMap contributors (ODbL)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